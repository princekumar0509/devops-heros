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7d1a902-3353-aa39-9828-3c9583c81307}">
          <p14:sldIdLst>
            <p14:sldId id="256"/>
            <p14:sldId id="257"/>
          </p14:sldIdLst>
        </p14:section>
        <p14:section name="Architecture" id="{1b584140-7cf3-cc38-87cb-cf32fe5be9b2}">
          <p14:sldIdLst>
            <p14:sldId id="258"/>
            <p14:sldId id="259"/>
          </p14:sldIdLst>
        </p14:section>
        <p14:section name="Build" id="{f0b335aa-3384-aaa9-a5e2-363b595ef907}">
          <p14:sldIdLst>
            <p14:sldId id="260"/>
            <p14:sldId id="261"/>
            <p14:sldId id="262"/>
          </p14:sldIdLst>
        </p14:section>
        <p14:section name="Ship" id="{8100e104-d5a8-f8ad-1323-a67388bb18d1}">
          <p14:sldIdLst>
            <p14:sldId id="263"/>
            <p14:sldId id="264"/>
          </p14:sldIdLst>
        </p14:section>
        <p14:section name="Run on AWS" id="{19c7243f-b1a2-284d-6983-734e1d248d7e}">
          <p14:sldIdLst>
            <p14:sldId id="265"/>
            <p14:sldId id="266"/>
            <p14:sldId id="267"/>
          </p14:sldIdLst>
        </p14:section>
        <p14:section name="Wrap-up" id="{978cbf9c-254a-f2f5-4ec5-9f78da94a617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1: Introduction. See presentation/SCRIPT.md.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(continued): what the app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2: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(continued): overview of the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3: The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4: Testing and code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5: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6: CI/CD, the live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7: Trivy and GHCR.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8: Terraform on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9: Kubernetes and Helm.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10: Autoscaling and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11: Challenges and what I learned.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12: Cleanup and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HelpDesk · DevOps capstone · Prince Kumar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HelpDesk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7E3"/>
                </a:solidFill>
              </a:rPr>
              <a:t>A support-ticketing app, shipped with a complete DevOps pipeline on AWS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Prince Kumar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Session 21 · DevOps capstone · October 2026</a:t>
            </a:r>
            <a:endParaRPr lang="en-US" sz="1300" dirty="0"/>
          </a:p>
        </p:txBody>
      </p:sp>
      <p:sp>
        <p:nvSpPr>
          <p:cNvPr id="5" name="HelpDesk app screenshot frame"/>
          <p:cNvSpPr/>
          <p:nvPr/>
        </p:nvSpPr>
        <p:spPr>
          <a:xfrm>
            <a:off x="4754880" y="1236726"/>
            <a:ext cx="4023360" cy="2555748"/>
          </a:xfrm>
          <a:prstGeom prst="roundRect">
            <a:avLst>
              <a:gd name="adj" fmla="val 2147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HelpDesk app screenshot" descr="HelpDesk ap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744" y="1291590"/>
            <a:ext cx="3913632" cy="24460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HelpDesk does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M1</a:t>
            </a:r>
            <a:endParaRPr lang="en-US" sz="1200" dirty="0"/>
          </a:p>
        </p:txBody>
      </p:sp>
      <p:sp>
        <p:nvSpPr>
          <p:cNvPr id="5" name="step 1 circle"/>
          <p:cNvSpPr/>
          <p:nvPr/>
        </p:nvSpPr>
        <p:spPr>
          <a:xfrm>
            <a:off x="457200" y="1143000"/>
            <a:ext cx="420624" cy="42062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step 1 number"/>
          <p:cNvSpPr txBox="1"/>
          <p:nvPr/>
        </p:nvSpPr>
        <p:spPr>
          <a:xfrm>
            <a:off x="45720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 1 title"/>
          <p:cNvSpPr txBox="1"/>
          <p:nvPr/>
        </p:nvSpPr>
        <p:spPr>
          <a:xfrm>
            <a:off x="1024128" y="1106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Customers raise tickets</a:t>
            </a:r>
            <a:endParaRPr lang="en-US" sz="1500" dirty="0"/>
          </a:p>
        </p:txBody>
      </p:sp>
      <p:sp>
        <p:nvSpPr>
          <p:cNvPr id="8" name="step 1 text"/>
          <p:cNvSpPr txBox="1"/>
          <p:nvPr/>
        </p:nvSpPr>
        <p:spPr>
          <a:xfrm>
            <a:off x="1024128" y="14173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Bug, billing, account, feature request or general, with a priority</a:t>
            </a:r>
            <a:endParaRPr lang="en-US" sz="1300" dirty="0"/>
          </a:p>
        </p:txBody>
      </p:sp>
      <p:sp>
        <p:nvSpPr>
          <p:cNvPr id="9" name="step 2 circle"/>
          <p:cNvSpPr/>
          <p:nvPr/>
        </p:nvSpPr>
        <p:spPr>
          <a:xfrm>
            <a:off x="457200" y="2258568"/>
            <a:ext cx="420624" cy="42062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step 2 number"/>
          <p:cNvSpPr txBox="1"/>
          <p:nvPr/>
        </p:nvSpPr>
        <p:spPr>
          <a:xfrm>
            <a:off x="45720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 2 title"/>
          <p:cNvSpPr txBox="1"/>
          <p:nvPr/>
        </p:nvSpPr>
        <p:spPr>
          <a:xfrm>
            <a:off x="1024128" y="2221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Agents work the queue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1024128" y="25328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Reply to the customer, add internal notes, assign, resolve, close</a:t>
            </a:r>
            <a:endParaRPr lang="en-US" sz="1300" dirty="0"/>
          </a:p>
        </p:txBody>
      </p:sp>
      <p:sp>
        <p:nvSpPr>
          <p:cNvPr id="13" name="step 3 circle"/>
          <p:cNvSpPr/>
          <p:nvPr/>
        </p:nvSpPr>
        <p:spPr>
          <a:xfrm>
            <a:off x="457200" y="3374136"/>
            <a:ext cx="420624" cy="42062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457200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tep 3 title"/>
          <p:cNvSpPr txBox="1"/>
          <p:nvPr/>
        </p:nvSpPr>
        <p:spPr>
          <a:xfrm>
            <a:off x="1024128" y="3337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Leads see the big picture</a:t>
            </a:r>
            <a:endParaRPr lang="en-US" sz="1500" dirty="0"/>
          </a:p>
        </p:txBody>
      </p:sp>
      <p:sp>
        <p:nvSpPr>
          <p:cNvPr id="16" name="step 3 text"/>
          <p:cNvSpPr txBox="1"/>
          <p:nvPr/>
        </p:nvSpPr>
        <p:spPr>
          <a:xfrm>
            <a:off x="1024128" y="36484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Live counts: open, in progress, urgent, unassigned, by category</a:t>
            </a:r>
            <a:endParaRPr lang="en-US" sz="1300" dirty="0"/>
          </a:p>
        </p:txBody>
      </p:sp>
      <p:sp>
        <p:nvSpPr>
          <p:cNvPr id="17" name="Dashboard on EKS frame"/>
          <p:cNvSpPr/>
          <p:nvPr/>
        </p:nvSpPr>
        <p:spPr>
          <a:xfrm>
            <a:off x="3977640" y="1305306"/>
            <a:ext cx="4754880" cy="3012948"/>
          </a:xfrm>
          <a:prstGeom prst="roundRect">
            <a:avLst>
              <a:gd name="adj" fmla="val 1821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Dashboard on EKS" descr="Dashboard on E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2504" y="1360170"/>
            <a:ext cx="4645152" cy="29032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Architecture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AR</a:t>
            </a:r>
            <a:endParaRPr lang="en-US" sz="1200" dirty="0"/>
          </a:p>
        </p:txBody>
      </p:sp>
      <p:sp>
        <p:nvSpPr>
          <p:cNvPr id="5" name="developer box"/>
          <p:cNvSpPr/>
          <p:nvPr/>
        </p:nvSpPr>
        <p:spPr>
          <a:xfrm>
            <a:off x="457200" y="1024128"/>
            <a:ext cx="1600200" cy="621792"/>
          </a:xfrm>
          <a:prstGeom prst="roundRect">
            <a:avLst>
              <a:gd name="adj" fmla="val 11765"/>
            </a:avLst>
          </a:prstGeom>
          <a:solidFill>
            <a:srgbClr val="EEF4F3"/>
          </a:solidFill>
          <a:ln/>
        </p:spPr>
      </p:sp>
      <p:sp>
        <p:nvSpPr>
          <p:cNvPr id="6" name="developer label"/>
          <p:cNvSpPr txBox="1"/>
          <p:nvPr/>
        </p:nvSpPr>
        <p:spPr>
          <a:xfrm>
            <a:off x="457200" y="1024128"/>
            <a:ext cx="160020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B3A"/>
                </a:solidFill>
              </a:rPr>
              <a:t>Developer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3A"/>
                </a:solidFill>
              </a:rPr>
              <a:t>git push to main</a:t>
            </a:r>
            <a:endParaRPr lang="en-US" sz="1200" dirty="0"/>
          </a:p>
        </p:txBody>
      </p:sp>
      <p:sp>
        <p:nvSpPr>
          <p:cNvPr id="7" name="actions box"/>
          <p:cNvSpPr/>
          <p:nvPr/>
        </p:nvSpPr>
        <p:spPr>
          <a:xfrm>
            <a:off x="2514600" y="1024128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0F3B3A"/>
          </a:solidFill>
          <a:ln/>
        </p:spPr>
      </p:sp>
      <p:sp>
        <p:nvSpPr>
          <p:cNvPr id="8" name="actions label"/>
          <p:cNvSpPr txBox="1"/>
          <p:nvPr/>
        </p:nvSpPr>
        <p:spPr>
          <a:xfrm>
            <a:off x="2514600" y="1024128"/>
            <a:ext cx="283464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Actions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Test · Build · Trivy · Push · Deploy</a:t>
            </a:r>
            <a:endParaRPr lang="en-US" sz="1200" dirty="0"/>
          </a:p>
        </p:txBody>
      </p:sp>
      <p:sp>
        <p:nvSpPr>
          <p:cNvPr id="9" name="ghcr box"/>
          <p:cNvSpPr/>
          <p:nvPr/>
        </p:nvSpPr>
        <p:spPr>
          <a:xfrm>
            <a:off x="5806440" y="1024128"/>
            <a:ext cx="2880360" cy="621792"/>
          </a:xfrm>
          <a:prstGeom prst="roundRect">
            <a:avLst>
              <a:gd name="adj" fmla="val 11765"/>
            </a:avLst>
          </a:prstGeom>
          <a:solidFill>
            <a:srgbClr val="EEF4F3"/>
          </a:solidFill>
          <a:ln/>
        </p:spPr>
      </p:sp>
      <p:sp>
        <p:nvSpPr>
          <p:cNvPr id="10" name="ghcr label"/>
          <p:cNvSpPr txBox="1"/>
          <p:nvPr/>
        </p:nvSpPr>
        <p:spPr>
          <a:xfrm>
            <a:off x="5806440" y="1024128"/>
            <a:ext cx="288036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B3A"/>
                </a:solidFill>
              </a:rPr>
              <a:t>GHCR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3A"/>
                </a:solidFill>
              </a:rPr>
              <a:t>images tagged with the commit SHA</a:t>
            </a:r>
            <a:endParaRPr lang="en-US" sz="1200" dirty="0"/>
          </a:p>
        </p:txBody>
      </p:sp>
      <p:sp>
        <p:nvSpPr>
          <p:cNvPr id="11" name="arrow dev to actions"/>
          <p:cNvSpPr/>
          <p:nvPr/>
        </p:nvSpPr>
        <p:spPr>
          <a:xfrm>
            <a:off x="2057400" y="1335024"/>
            <a:ext cx="457200" cy="91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12" name="arrow actions to ghcr"/>
          <p:cNvSpPr/>
          <p:nvPr/>
        </p:nvSpPr>
        <p:spPr>
          <a:xfrm>
            <a:off x="5349240" y="1335024"/>
            <a:ext cx="457200" cy="91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13" name="aws vpc container"/>
          <p:cNvSpPr/>
          <p:nvPr/>
        </p:nvSpPr>
        <p:spPr>
          <a:xfrm>
            <a:off x="457200" y="1938528"/>
            <a:ext cx="8229600" cy="2697480"/>
          </a:xfrm>
          <a:prstGeom prst="roundRect">
            <a:avLst>
              <a:gd name="adj" fmla="val 2712"/>
            </a:avLst>
          </a:prstGeom>
          <a:solidFill>
            <a:srgbClr val="F6FAF9"/>
          </a:solidFill>
          <a:ln w="12700">
            <a:solidFill>
              <a:srgbClr val="0E8C7F"/>
            </a:solidFill>
            <a:prstDash val="dash"/>
          </a:ln>
        </p:spPr>
      </p:sp>
      <p:sp>
        <p:nvSpPr>
          <p:cNvPr id="14" name="vpc label"/>
          <p:cNvSpPr txBox="1"/>
          <p:nvPr/>
        </p:nvSpPr>
        <p:spPr>
          <a:xfrm>
            <a:off x="594360" y="1984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AWS ap-south-1 · VPC, 2 public + 2 private subnets</a:t>
            </a:r>
            <a:endParaRPr lang="en-US" sz="1100" dirty="0"/>
          </a:p>
        </p:txBody>
      </p:sp>
      <p:sp>
        <p:nvSpPr>
          <p:cNvPr id="15" name="eks container"/>
          <p:cNvSpPr/>
          <p:nvPr/>
        </p:nvSpPr>
        <p:spPr>
          <a:xfrm>
            <a:off x="640080" y="2331720"/>
            <a:ext cx="5989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16" name="eks label"/>
          <p:cNvSpPr txBox="1"/>
          <p:nvPr/>
        </p:nvSpPr>
        <p:spPr>
          <a:xfrm>
            <a:off x="777240" y="2377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EKS 1.34 · namespace helpdesk · Helm release</a:t>
            </a:r>
            <a:endParaRPr lang="en-US" sz="1000" dirty="0"/>
          </a:p>
        </p:txBody>
      </p:sp>
      <p:sp>
        <p:nvSpPr>
          <p:cNvPr id="17" name="nlb box"/>
          <p:cNvSpPr/>
          <p:nvPr/>
        </p:nvSpPr>
        <p:spPr>
          <a:xfrm>
            <a:off x="822960" y="2788920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F2A93B"/>
          </a:solidFill>
          <a:ln/>
        </p:spPr>
      </p:sp>
      <p:sp>
        <p:nvSpPr>
          <p:cNvPr id="18" name="nlb label"/>
          <p:cNvSpPr txBox="1"/>
          <p:nvPr/>
        </p:nvSpPr>
        <p:spPr>
          <a:xfrm>
            <a:off x="822960" y="2788920"/>
            <a:ext cx="13258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42A"/>
                </a:solidFill>
              </a:rPr>
              <a:t>AWS NLB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242A"/>
                </a:solidFill>
              </a:rPr>
              <a:t>+ NGINX Ingress</a:t>
            </a:r>
            <a:endParaRPr lang="en-US" sz="1200" dirty="0"/>
          </a:p>
        </p:txBody>
      </p:sp>
      <p:sp>
        <p:nvSpPr>
          <p:cNvPr id="19" name="frontend box"/>
          <p:cNvSpPr/>
          <p:nvPr/>
        </p:nvSpPr>
        <p:spPr>
          <a:xfrm>
            <a:off x="2514600" y="2697480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EEF4F3"/>
          </a:solidFill>
          <a:ln/>
        </p:spPr>
      </p:sp>
      <p:sp>
        <p:nvSpPr>
          <p:cNvPr id="20" name="frontend label"/>
          <p:cNvSpPr txBox="1"/>
          <p:nvPr/>
        </p:nvSpPr>
        <p:spPr>
          <a:xfrm>
            <a:off x="2514600" y="2697480"/>
            <a:ext cx="16459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B3A"/>
                </a:solidFill>
              </a:rPr>
              <a:t>Frontend ×2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3A"/>
                </a:solidFill>
              </a:rPr>
              <a:t>React · Nginx</a:t>
            </a:r>
            <a:endParaRPr lang="en-US" sz="1200" dirty="0"/>
          </a:p>
        </p:txBody>
      </p:sp>
      <p:sp>
        <p:nvSpPr>
          <p:cNvPr id="21" name="backend box"/>
          <p:cNvSpPr/>
          <p:nvPr/>
        </p:nvSpPr>
        <p:spPr>
          <a:xfrm>
            <a:off x="2514600" y="3401568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EEF4F3"/>
          </a:solidFill>
          <a:ln/>
        </p:spPr>
      </p:sp>
      <p:sp>
        <p:nvSpPr>
          <p:cNvPr id="22" name="backend label"/>
          <p:cNvSpPr txBox="1"/>
          <p:nvPr/>
        </p:nvSpPr>
        <p:spPr>
          <a:xfrm>
            <a:off x="2514600" y="3401568"/>
            <a:ext cx="16459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B3A"/>
                </a:solidFill>
              </a:rPr>
              <a:t>Backend ×2–6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3A"/>
                </a:solidFill>
              </a:rPr>
              <a:t>FastAPI · HPA</a:t>
            </a:r>
            <a:endParaRPr lang="en-US" sz="1200" dirty="0"/>
          </a:p>
        </p:txBody>
      </p:sp>
      <p:sp>
        <p:nvSpPr>
          <p:cNvPr id="23" name="postgres box"/>
          <p:cNvSpPr/>
          <p:nvPr/>
        </p:nvSpPr>
        <p:spPr>
          <a:xfrm>
            <a:off x="4526280" y="3401568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EEF4F3"/>
          </a:solidFill>
          <a:ln/>
        </p:spPr>
      </p:sp>
      <p:sp>
        <p:nvSpPr>
          <p:cNvPr id="24" name="postgres label"/>
          <p:cNvSpPr txBox="1"/>
          <p:nvPr/>
        </p:nvSpPr>
        <p:spPr>
          <a:xfrm>
            <a:off x="4526280" y="3401568"/>
            <a:ext cx="1920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B3A"/>
                </a:solidFill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3A"/>
                </a:solidFill>
              </a:rPr>
              <a:t>StatefulSet · 5 Gi EBS</a:t>
            </a:r>
            <a:endParaRPr lang="en-US" sz="1200" dirty="0"/>
          </a:p>
        </p:txBody>
      </p:sp>
      <p:sp>
        <p:nvSpPr>
          <p:cNvPr id="25" name="monitoring box"/>
          <p:cNvSpPr/>
          <p:nvPr/>
        </p:nvSpPr>
        <p:spPr>
          <a:xfrm>
            <a:off x="4526280" y="26974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F3B3A"/>
          </a:solidFill>
          <a:ln/>
        </p:spPr>
      </p:sp>
      <p:sp>
        <p:nvSpPr>
          <p:cNvPr id="26" name="monitoring label"/>
          <p:cNvSpPr txBox="1"/>
          <p:nvPr/>
        </p:nvSpPr>
        <p:spPr>
          <a:xfrm>
            <a:off x="4526280" y="2697480"/>
            <a:ext cx="1920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Prometheus → Grafana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ServiceMonitor scrape</a:t>
            </a:r>
            <a:endParaRPr lang="en-US" sz="1200" dirty="0"/>
          </a:p>
        </p:txBody>
      </p:sp>
      <p:sp>
        <p:nvSpPr>
          <p:cNvPr id="27" name="arrow ingress to frontend"/>
          <p:cNvSpPr/>
          <p:nvPr/>
        </p:nvSpPr>
        <p:spPr>
          <a:xfrm flipV="1">
            <a:off x="2148840" y="2980944"/>
            <a:ext cx="365760" cy="36576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28" name="arrow ingress to backend"/>
          <p:cNvSpPr/>
          <p:nvPr/>
        </p:nvSpPr>
        <p:spPr>
          <a:xfrm>
            <a:off x="2148840" y="3310128"/>
            <a:ext cx="365760" cy="37490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29" name="arrow backend to postgres"/>
          <p:cNvSpPr/>
          <p:nvPr/>
        </p:nvSpPr>
        <p:spPr>
          <a:xfrm>
            <a:off x="4160520" y="3685032"/>
            <a:ext cx="365760" cy="91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30" name="arrow backend to prometheus"/>
          <p:cNvSpPr/>
          <p:nvPr/>
        </p:nvSpPr>
        <p:spPr>
          <a:xfrm flipV="1">
            <a:off x="4160520" y="3108960"/>
            <a:ext cx="365760" cy="411480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31" name="users label"/>
          <p:cNvSpPr txBox="1"/>
          <p:nvPr/>
        </p:nvSpPr>
        <p:spPr>
          <a:xfrm>
            <a:off x="82296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Users → /  and  /api</a:t>
            </a:r>
            <a:endParaRPr lang="en-US" sz="1000" dirty="0"/>
          </a:p>
        </p:txBody>
      </p:sp>
      <p:sp>
        <p:nvSpPr>
          <p:cNvPr id="32" name="terraform box"/>
          <p:cNvSpPr/>
          <p:nvPr/>
        </p:nvSpPr>
        <p:spPr>
          <a:xfrm>
            <a:off x="6812280" y="2331720"/>
            <a:ext cx="1691640" cy="2148840"/>
          </a:xfrm>
          <a:prstGeom prst="roundRect">
            <a:avLst>
              <a:gd name="adj" fmla="val 4324"/>
            </a:avLst>
          </a:prstGeom>
          <a:solidFill>
            <a:srgbClr val="0F3B3A"/>
          </a:solidFill>
          <a:ln/>
        </p:spPr>
      </p:sp>
      <p:sp>
        <p:nvSpPr>
          <p:cNvPr id="33" name="terraform label"/>
          <p:cNvSpPr txBox="1"/>
          <p:nvPr/>
        </p:nvSpPr>
        <p:spPr>
          <a:xfrm>
            <a:off x="6812280" y="2331720"/>
            <a:ext cx="1691640" cy="2148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Terraform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VPC · subnets · NAT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EKS · node group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EBS CSI · metrics-server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GitHub OIDC role</a:t>
            </a:r>
            <a:endParaRPr lang="en-US" sz="1200" dirty="0"/>
          </a:p>
        </p:txBody>
      </p:sp>
      <p:sp>
        <p:nvSpPr>
          <p:cNvPr id="34" name="arrow actions to eks"/>
          <p:cNvSpPr/>
          <p:nvPr/>
        </p:nvSpPr>
        <p:spPr>
          <a:xfrm>
            <a:off x="5029200" y="1645920"/>
            <a:ext cx="914" cy="685800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35" name="deploy label"/>
          <p:cNvSpPr txBox="1"/>
          <p:nvPr/>
        </p:nvSpPr>
        <p:spPr>
          <a:xfrm>
            <a:off x="5120640" y="16824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helm upgrade via OIDC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Ten modules, one pipeline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ALL</a:t>
            </a:r>
            <a:endParaRPr lang="en-US" sz="1200" dirty="0"/>
          </a:p>
        </p:txBody>
      </p:sp>
      <p:sp>
        <p:nvSpPr>
          <p:cNvPr id="5" name="M1 card"/>
          <p:cNvSpPr/>
          <p:nvPr/>
        </p:nvSpPr>
        <p:spPr>
          <a:xfrm>
            <a:off x="457200" y="109728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6" name="M1 chip"/>
          <p:cNvSpPr/>
          <p:nvPr/>
        </p:nvSpPr>
        <p:spPr>
          <a:xfrm>
            <a:off x="594360" y="1252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M1 chip label"/>
          <p:cNvSpPr txBox="1"/>
          <p:nvPr/>
        </p:nvSpPr>
        <p:spPr>
          <a:xfrm>
            <a:off x="59436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M1</a:t>
            </a:r>
            <a:endParaRPr lang="en-US" sz="1100" dirty="0"/>
          </a:p>
        </p:txBody>
      </p:sp>
      <p:sp>
        <p:nvSpPr>
          <p:cNvPr id="8" name="M1 title"/>
          <p:cNvSpPr txBox="1"/>
          <p:nvPr/>
        </p:nvSpPr>
        <p:spPr>
          <a:xfrm>
            <a:off x="594360" y="1810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9" name="M1 text"/>
          <p:cNvSpPr txBox="1"/>
          <p:nvPr/>
        </p:nvSpPr>
        <p:spPr>
          <a:xfrm>
            <a:off x="594360" y="2103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React · FastAPI · Postgres · Alembic</a:t>
            </a:r>
            <a:endParaRPr lang="en-US" sz="1100" dirty="0"/>
          </a:p>
        </p:txBody>
      </p:sp>
      <p:sp>
        <p:nvSpPr>
          <p:cNvPr id="10" name="M2 card"/>
          <p:cNvSpPr/>
          <p:nvPr/>
        </p:nvSpPr>
        <p:spPr>
          <a:xfrm>
            <a:off x="2130552" y="109728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1" name="M2 chip"/>
          <p:cNvSpPr/>
          <p:nvPr/>
        </p:nvSpPr>
        <p:spPr>
          <a:xfrm>
            <a:off x="2267712" y="1252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M2 chip label"/>
          <p:cNvSpPr txBox="1"/>
          <p:nvPr/>
        </p:nvSpPr>
        <p:spPr>
          <a:xfrm>
            <a:off x="2267712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M2</a:t>
            </a:r>
            <a:endParaRPr lang="en-US" sz="1100" dirty="0"/>
          </a:p>
        </p:txBody>
      </p:sp>
      <p:sp>
        <p:nvSpPr>
          <p:cNvPr id="13" name="M2 title"/>
          <p:cNvSpPr txBox="1"/>
          <p:nvPr/>
        </p:nvSpPr>
        <p:spPr>
          <a:xfrm>
            <a:off x="2267712" y="1810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Testing</a:t>
            </a:r>
            <a:endParaRPr lang="en-US" sz="1400" dirty="0"/>
          </a:p>
        </p:txBody>
      </p:sp>
      <p:sp>
        <p:nvSpPr>
          <p:cNvPr id="14" name="M2 text"/>
          <p:cNvSpPr txBox="1"/>
          <p:nvPr/>
        </p:nvSpPr>
        <p:spPr>
          <a:xfrm>
            <a:off x="2267712" y="2103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pytest ×19 · ruff · SQLite test DB</a:t>
            </a:r>
            <a:endParaRPr lang="en-US" sz="1100" dirty="0"/>
          </a:p>
        </p:txBody>
      </p:sp>
      <p:sp>
        <p:nvSpPr>
          <p:cNvPr id="15" name="M3 card"/>
          <p:cNvSpPr/>
          <p:nvPr/>
        </p:nvSpPr>
        <p:spPr>
          <a:xfrm>
            <a:off x="3803904" y="109728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6" name="M3 chip"/>
          <p:cNvSpPr/>
          <p:nvPr/>
        </p:nvSpPr>
        <p:spPr>
          <a:xfrm>
            <a:off x="3941064" y="1252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M3 chip label"/>
          <p:cNvSpPr txBox="1"/>
          <p:nvPr/>
        </p:nvSpPr>
        <p:spPr>
          <a:xfrm>
            <a:off x="3941064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M3</a:t>
            </a:r>
            <a:endParaRPr lang="en-US" sz="1100" dirty="0"/>
          </a:p>
        </p:txBody>
      </p:sp>
      <p:sp>
        <p:nvSpPr>
          <p:cNvPr id="18" name="M3 title"/>
          <p:cNvSpPr txBox="1"/>
          <p:nvPr/>
        </p:nvSpPr>
        <p:spPr>
          <a:xfrm>
            <a:off x="3941064" y="1810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Git &amp; GitHub</a:t>
            </a:r>
            <a:endParaRPr lang="en-US" sz="1400" dirty="0"/>
          </a:p>
        </p:txBody>
      </p:sp>
      <p:sp>
        <p:nvSpPr>
          <p:cNvPr id="19" name="M3 text"/>
          <p:cNvSpPr txBox="1"/>
          <p:nvPr/>
        </p:nvSpPr>
        <p:spPr>
          <a:xfrm>
            <a:off x="3941064" y="2103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public repo · clear commits</a:t>
            </a:r>
            <a:endParaRPr lang="en-US" sz="1100" dirty="0"/>
          </a:p>
        </p:txBody>
      </p:sp>
      <p:sp>
        <p:nvSpPr>
          <p:cNvPr id="20" name="M4 card"/>
          <p:cNvSpPr/>
          <p:nvPr/>
        </p:nvSpPr>
        <p:spPr>
          <a:xfrm>
            <a:off x="5477256" y="109728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1" name="M4 chip"/>
          <p:cNvSpPr/>
          <p:nvPr/>
        </p:nvSpPr>
        <p:spPr>
          <a:xfrm>
            <a:off x="5614416" y="1252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M4 chip label"/>
          <p:cNvSpPr txBox="1"/>
          <p:nvPr/>
        </p:nvSpPr>
        <p:spPr>
          <a:xfrm>
            <a:off x="5614416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M4</a:t>
            </a:r>
            <a:endParaRPr lang="en-US" sz="1100" dirty="0"/>
          </a:p>
        </p:txBody>
      </p:sp>
      <p:sp>
        <p:nvSpPr>
          <p:cNvPr id="23" name="M4 title"/>
          <p:cNvSpPr txBox="1"/>
          <p:nvPr/>
        </p:nvSpPr>
        <p:spPr>
          <a:xfrm>
            <a:off x="5614416" y="1810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Docker</a:t>
            </a:r>
            <a:endParaRPr lang="en-US" sz="1400" dirty="0"/>
          </a:p>
        </p:txBody>
      </p:sp>
      <p:sp>
        <p:nvSpPr>
          <p:cNvPr id="24" name="M4 text"/>
          <p:cNvSpPr txBox="1"/>
          <p:nvPr/>
        </p:nvSpPr>
        <p:spPr>
          <a:xfrm>
            <a:off x="5614416" y="2103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multi-stage · non-root · Compose</a:t>
            </a:r>
            <a:endParaRPr lang="en-US" sz="1100" dirty="0"/>
          </a:p>
        </p:txBody>
      </p:sp>
      <p:sp>
        <p:nvSpPr>
          <p:cNvPr id="25" name="M5 card"/>
          <p:cNvSpPr/>
          <p:nvPr/>
        </p:nvSpPr>
        <p:spPr>
          <a:xfrm>
            <a:off x="7150608" y="109728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6" name="M5 chip"/>
          <p:cNvSpPr/>
          <p:nvPr/>
        </p:nvSpPr>
        <p:spPr>
          <a:xfrm>
            <a:off x="7287768" y="1252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M5 chip label"/>
          <p:cNvSpPr txBox="1"/>
          <p:nvPr/>
        </p:nvSpPr>
        <p:spPr>
          <a:xfrm>
            <a:off x="7287768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M5</a:t>
            </a:r>
            <a:endParaRPr lang="en-US" sz="1100" dirty="0"/>
          </a:p>
        </p:txBody>
      </p:sp>
      <p:sp>
        <p:nvSpPr>
          <p:cNvPr id="28" name="M5 title"/>
          <p:cNvSpPr txBox="1"/>
          <p:nvPr/>
        </p:nvSpPr>
        <p:spPr>
          <a:xfrm>
            <a:off x="7287768" y="1810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CI/CD</a:t>
            </a:r>
            <a:endParaRPr lang="en-US" sz="1400" dirty="0"/>
          </a:p>
        </p:txBody>
      </p:sp>
      <p:sp>
        <p:nvSpPr>
          <p:cNvPr id="29" name="M5 text"/>
          <p:cNvSpPr txBox="1"/>
          <p:nvPr/>
        </p:nvSpPr>
        <p:spPr>
          <a:xfrm>
            <a:off x="7287768" y="2103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GitHub Actions · GHCR · SHA tags</a:t>
            </a:r>
            <a:endParaRPr lang="en-US" sz="1100" dirty="0"/>
          </a:p>
        </p:txBody>
      </p:sp>
      <p:sp>
        <p:nvSpPr>
          <p:cNvPr id="30" name="M6 card"/>
          <p:cNvSpPr/>
          <p:nvPr/>
        </p:nvSpPr>
        <p:spPr>
          <a:xfrm>
            <a:off x="457200" y="288036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31" name="M6 chip"/>
          <p:cNvSpPr/>
          <p:nvPr/>
        </p:nvSpPr>
        <p:spPr>
          <a:xfrm>
            <a:off x="594360" y="3035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M6 chip label"/>
          <p:cNvSpPr txBox="1"/>
          <p:nvPr/>
        </p:nvSpPr>
        <p:spPr>
          <a:xfrm>
            <a:off x="5943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M6</a:t>
            </a:r>
            <a:endParaRPr lang="en-US" sz="1100" dirty="0"/>
          </a:p>
        </p:txBody>
      </p:sp>
      <p:sp>
        <p:nvSpPr>
          <p:cNvPr id="33" name="M6 title"/>
          <p:cNvSpPr txBox="1"/>
          <p:nvPr/>
        </p:nvSpPr>
        <p:spPr>
          <a:xfrm>
            <a:off x="594360" y="3593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DevSecOps</a:t>
            </a:r>
            <a:endParaRPr lang="en-US" sz="1400" dirty="0"/>
          </a:p>
        </p:txBody>
      </p:sp>
      <p:sp>
        <p:nvSpPr>
          <p:cNvPr id="34" name="M6 text"/>
          <p:cNvSpPr txBox="1"/>
          <p:nvPr/>
        </p:nvSpPr>
        <p:spPr>
          <a:xfrm>
            <a:off x="594360" y="38862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Trivy · fail on HIGH/CRITICAL</a:t>
            </a:r>
            <a:endParaRPr lang="en-US" sz="1100" dirty="0"/>
          </a:p>
        </p:txBody>
      </p:sp>
      <p:sp>
        <p:nvSpPr>
          <p:cNvPr id="35" name="M7 card"/>
          <p:cNvSpPr/>
          <p:nvPr/>
        </p:nvSpPr>
        <p:spPr>
          <a:xfrm>
            <a:off x="2130552" y="288036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36" name="M7 chip"/>
          <p:cNvSpPr/>
          <p:nvPr/>
        </p:nvSpPr>
        <p:spPr>
          <a:xfrm>
            <a:off x="2267712" y="3035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M7 chip label"/>
          <p:cNvSpPr txBox="1"/>
          <p:nvPr/>
        </p:nvSpPr>
        <p:spPr>
          <a:xfrm>
            <a:off x="2267712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M7</a:t>
            </a:r>
            <a:endParaRPr lang="en-US" sz="1100" dirty="0"/>
          </a:p>
        </p:txBody>
      </p:sp>
      <p:sp>
        <p:nvSpPr>
          <p:cNvPr id="38" name="M7 title"/>
          <p:cNvSpPr txBox="1"/>
          <p:nvPr/>
        </p:nvSpPr>
        <p:spPr>
          <a:xfrm>
            <a:off x="2267712" y="3593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Terraform</a:t>
            </a:r>
            <a:endParaRPr lang="en-US" sz="1400" dirty="0"/>
          </a:p>
        </p:txBody>
      </p:sp>
      <p:sp>
        <p:nvSpPr>
          <p:cNvPr id="39" name="M7 text"/>
          <p:cNvSpPr txBox="1"/>
          <p:nvPr/>
        </p:nvSpPr>
        <p:spPr>
          <a:xfrm>
            <a:off x="2267712" y="38862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VPC · EKS · node group · OIDC</a:t>
            </a:r>
            <a:endParaRPr lang="en-US" sz="1100" dirty="0"/>
          </a:p>
        </p:txBody>
      </p:sp>
      <p:sp>
        <p:nvSpPr>
          <p:cNvPr id="40" name="M8 card"/>
          <p:cNvSpPr/>
          <p:nvPr/>
        </p:nvSpPr>
        <p:spPr>
          <a:xfrm>
            <a:off x="3803904" y="288036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1" name="M8 chip"/>
          <p:cNvSpPr/>
          <p:nvPr/>
        </p:nvSpPr>
        <p:spPr>
          <a:xfrm>
            <a:off x="3941064" y="3035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M8 chip label"/>
          <p:cNvSpPr txBox="1"/>
          <p:nvPr/>
        </p:nvSpPr>
        <p:spPr>
          <a:xfrm>
            <a:off x="3941064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M8</a:t>
            </a:r>
            <a:endParaRPr lang="en-US" sz="1100" dirty="0"/>
          </a:p>
        </p:txBody>
      </p:sp>
      <p:sp>
        <p:nvSpPr>
          <p:cNvPr id="43" name="M8 title"/>
          <p:cNvSpPr txBox="1"/>
          <p:nvPr/>
        </p:nvSpPr>
        <p:spPr>
          <a:xfrm>
            <a:off x="3941064" y="3593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Kubernetes</a:t>
            </a:r>
            <a:endParaRPr lang="en-US" sz="1400" dirty="0"/>
          </a:p>
        </p:txBody>
      </p:sp>
      <p:sp>
        <p:nvSpPr>
          <p:cNvPr id="44" name="M8 text"/>
          <p:cNvSpPr txBox="1"/>
          <p:nvPr/>
        </p:nvSpPr>
        <p:spPr>
          <a:xfrm>
            <a:off x="3941064" y="38862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Helm · Ingress · HPA · PVC</a:t>
            </a:r>
            <a:endParaRPr lang="en-US" sz="1100" dirty="0"/>
          </a:p>
        </p:txBody>
      </p:sp>
      <p:sp>
        <p:nvSpPr>
          <p:cNvPr id="45" name="M9 card"/>
          <p:cNvSpPr/>
          <p:nvPr/>
        </p:nvSpPr>
        <p:spPr>
          <a:xfrm>
            <a:off x="5477256" y="288036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6" name="M9 chip"/>
          <p:cNvSpPr/>
          <p:nvPr/>
        </p:nvSpPr>
        <p:spPr>
          <a:xfrm>
            <a:off x="5614416" y="3035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7" name="M9 chip label"/>
          <p:cNvSpPr txBox="1"/>
          <p:nvPr/>
        </p:nvSpPr>
        <p:spPr>
          <a:xfrm>
            <a:off x="5614416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M9</a:t>
            </a:r>
            <a:endParaRPr lang="en-US" sz="1100" dirty="0"/>
          </a:p>
        </p:txBody>
      </p:sp>
      <p:sp>
        <p:nvSpPr>
          <p:cNvPr id="48" name="M9 title"/>
          <p:cNvSpPr txBox="1"/>
          <p:nvPr/>
        </p:nvSpPr>
        <p:spPr>
          <a:xfrm>
            <a:off x="5614416" y="3593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Observability</a:t>
            </a:r>
            <a:endParaRPr lang="en-US" sz="1400" dirty="0"/>
          </a:p>
        </p:txBody>
      </p:sp>
      <p:sp>
        <p:nvSpPr>
          <p:cNvPr id="49" name="M9 text"/>
          <p:cNvSpPr txBox="1"/>
          <p:nvPr/>
        </p:nvSpPr>
        <p:spPr>
          <a:xfrm>
            <a:off x="5614416" y="38862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Prometheus · Grafana dashboard</a:t>
            </a:r>
            <a:endParaRPr lang="en-US" sz="1100" dirty="0"/>
          </a:p>
        </p:txBody>
      </p:sp>
      <p:sp>
        <p:nvSpPr>
          <p:cNvPr id="50" name="M10 card"/>
          <p:cNvSpPr/>
          <p:nvPr/>
        </p:nvSpPr>
        <p:spPr>
          <a:xfrm>
            <a:off x="7150608" y="288036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51" name="M10 chip"/>
          <p:cNvSpPr/>
          <p:nvPr/>
        </p:nvSpPr>
        <p:spPr>
          <a:xfrm>
            <a:off x="7287768" y="3035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2" name="M10 chip label"/>
          <p:cNvSpPr txBox="1"/>
          <p:nvPr/>
        </p:nvSpPr>
        <p:spPr>
          <a:xfrm>
            <a:off x="728776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M10</a:t>
            </a:r>
            <a:endParaRPr lang="en-US" sz="1100" dirty="0"/>
          </a:p>
        </p:txBody>
      </p:sp>
      <p:sp>
        <p:nvSpPr>
          <p:cNvPr id="53" name="M10 title"/>
          <p:cNvSpPr txBox="1"/>
          <p:nvPr/>
        </p:nvSpPr>
        <p:spPr>
          <a:xfrm>
            <a:off x="7287768" y="3593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Demo &amp; docs</a:t>
            </a:r>
            <a:endParaRPr lang="en-US" sz="1400" dirty="0"/>
          </a:p>
        </p:txBody>
      </p:sp>
      <p:sp>
        <p:nvSpPr>
          <p:cNvPr id="54" name="M10 text"/>
          <p:cNvSpPr txBox="1"/>
          <p:nvPr/>
        </p:nvSpPr>
        <p:spPr>
          <a:xfrm>
            <a:off x="7287768" y="38862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README · live commit → deploy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Application and REST API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M1</a:t>
            </a:r>
            <a:endParaRPr lang="en-US" sz="1200" dirty="0"/>
          </a:p>
        </p:txBody>
      </p:sp>
      <p:sp>
        <p:nvSpPr>
          <p:cNvPr id="5" name="Ticket detail drawer frame"/>
          <p:cNvSpPr/>
          <p:nvPr/>
        </p:nvSpPr>
        <p:spPr>
          <a:xfrm>
            <a:off x="411480" y="1019556"/>
            <a:ext cx="4206240" cy="2670048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Ticket detail drawer" descr="Ticket detail draw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074420"/>
            <a:ext cx="4096512" cy="2560320"/>
          </a:xfrm>
          <a:prstGeom prst="rect">
            <a:avLst/>
          </a:prstGeom>
        </p:spPr>
      </p:pic>
      <p:sp>
        <p:nvSpPr>
          <p:cNvPr id="7" name="Swagger UI frame"/>
          <p:cNvSpPr/>
          <p:nvPr/>
        </p:nvSpPr>
        <p:spPr>
          <a:xfrm>
            <a:off x="4617720" y="1048131"/>
            <a:ext cx="4114800" cy="2612898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Swagger UI" descr="Swagger U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102995"/>
            <a:ext cx="4005072" cy="2503170"/>
          </a:xfrm>
          <a:prstGeom prst="rect">
            <a:avLst/>
          </a:prstGeom>
        </p:spPr>
      </p:pic>
      <p:sp>
        <p:nvSpPr>
          <p:cNvPr id="9" name="stat REST endpoints (CRUD + stats + comments)"/>
          <p:cNvSpPr txBox="1"/>
          <p:nvPr/>
        </p:nvSpPr>
        <p:spPr>
          <a:xfrm>
            <a:off x="457200" y="37673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200" dirty="0"/>
          </a:p>
        </p:txBody>
      </p:sp>
      <p:sp>
        <p:nvSpPr>
          <p:cNvPr id="10" name="stat label REST endpoints (CRUD + stats + comments)"/>
          <p:cNvSpPr txBox="1"/>
          <p:nvPr/>
        </p:nvSpPr>
        <p:spPr>
          <a:xfrm>
            <a:off x="457200" y="43342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REST endpoints (CRUD + stats + comments)</a:t>
            </a:r>
            <a:endParaRPr lang="en-US" sz="1300" dirty="0"/>
          </a:p>
        </p:txBody>
      </p:sp>
      <p:sp>
        <p:nvSpPr>
          <p:cNvPr id="11" name="stat table schema via Alembic migration"/>
          <p:cNvSpPr txBox="1"/>
          <p:nvPr/>
        </p:nvSpPr>
        <p:spPr>
          <a:xfrm>
            <a:off x="2743200" y="37673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stat label table schema via Alembic migration"/>
          <p:cNvSpPr txBox="1"/>
          <p:nvPr/>
        </p:nvSpPr>
        <p:spPr>
          <a:xfrm>
            <a:off x="2743200" y="43342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table schema via Alembic migration</a:t>
            </a:r>
            <a:endParaRPr lang="en-US" sz="1300" dirty="0"/>
          </a:p>
        </p:txBody>
      </p:sp>
      <p:sp>
        <p:nvSpPr>
          <p:cNvPr id="13" name="stat probes for Kubernetes and Prometheus"/>
          <p:cNvSpPr txBox="1"/>
          <p:nvPr/>
        </p:nvSpPr>
        <p:spPr>
          <a:xfrm>
            <a:off x="5029200" y="37673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 · /ready · /metrics</a:t>
            </a:r>
            <a:endParaRPr lang="en-US" sz="2000" dirty="0"/>
          </a:p>
        </p:txBody>
      </p:sp>
      <p:sp>
        <p:nvSpPr>
          <p:cNvPr id="14" name="stat label probes for Kubernetes and Prometheus"/>
          <p:cNvSpPr txBox="1"/>
          <p:nvPr/>
        </p:nvSpPr>
        <p:spPr>
          <a:xfrm>
            <a:off x="5029200" y="43342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probes for Kubernetes and Prometheus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Testing and code quality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M2</a:t>
            </a:r>
            <a:endParaRPr lang="en-US" sz="1200" dirty="0"/>
          </a:p>
        </p:txBody>
      </p:sp>
      <p:sp>
        <p:nvSpPr>
          <p:cNvPr id="5" name="pytest output frame"/>
          <p:cNvSpPr/>
          <p:nvPr/>
        </p:nvSpPr>
        <p:spPr>
          <a:xfrm>
            <a:off x="411480" y="1462145"/>
            <a:ext cx="5577840" cy="2699270"/>
          </a:xfrm>
          <a:prstGeom prst="roundRect">
            <a:avLst>
              <a:gd name="adj" fmla="val 2033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pytest output" descr="pytest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517009"/>
            <a:ext cx="5468112" cy="2589542"/>
          </a:xfrm>
          <a:prstGeom prst="rect">
            <a:avLst/>
          </a:prstGeom>
        </p:spPr>
      </p:pic>
      <p:sp>
        <p:nvSpPr>
          <p:cNvPr id="7" name="stat pytest cases passing"/>
          <p:cNvSpPr txBox="1"/>
          <p:nvPr/>
        </p:nvSpPr>
        <p:spPr>
          <a:xfrm>
            <a:off x="6309360" y="1143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3200" dirty="0"/>
          </a:p>
        </p:txBody>
      </p:sp>
      <p:sp>
        <p:nvSpPr>
          <p:cNvPr id="8" name="stat label pytest cases passing"/>
          <p:cNvSpPr txBox="1"/>
          <p:nvPr/>
        </p:nvSpPr>
        <p:spPr>
          <a:xfrm>
            <a:off x="6309360" y="1709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pytest cases passing</a:t>
            </a:r>
            <a:endParaRPr lang="en-US" sz="1300" dirty="0"/>
          </a:p>
        </p:txBody>
      </p:sp>
      <p:sp>
        <p:nvSpPr>
          <p:cNvPr id="9" name="stat in-memory test DB per test (conftest.py)"/>
          <p:cNvSpPr txBox="1"/>
          <p:nvPr/>
        </p:nvSpPr>
        <p:spPr>
          <a:xfrm>
            <a:off x="6309360" y="2286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3200" dirty="0"/>
          </a:p>
        </p:txBody>
      </p:sp>
      <p:sp>
        <p:nvSpPr>
          <p:cNvPr id="10" name="stat label in-memory test DB per test (conftest.py)"/>
          <p:cNvSpPr txBox="1"/>
          <p:nvPr/>
        </p:nvSpPr>
        <p:spPr>
          <a:xfrm>
            <a:off x="6309360" y="2852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in-memory test DB per test (conftest.py)</a:t>
            </a:r>
            <a:endParaRPr lang="en-US" sz="1300" dirty="0"/>
          </a:p>
        </p:txBody>
      </p:sp>
      <p:sp>
        <p:nvSpPr>
          <p:cNvPr id="11" name="stat lint gate before any build"/>
          <p:cNvSpPr txBox="1"/>
          <p:nvPr/>
        </p:nvSpPr>
        <p:spPr>
          <a:xfrm>
            <a:off x="6309360" y="3429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ruff</a:t>
            </a:r>
            <a:endParaRPr lang="en-US" sz="3200" dirty="0"/>
          </a:p>
        </p:txBody>
      </p:sp>
      <p:sp>
        <p:nvSpPr>
          <p:cNvPr id="12" name="stat label lint gate before any build"/>
          <p:cNvSpPr txBox="1"/>
          <p:nvPr/>
        </p:nvSpPr>
        <p:spPr>
          <a:xfrm>
            <a:off x="630936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lint gate before any build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Docker and Compose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M4</a:t>
            </a:r>
            <a:endParaRPr lang="en-US" sz="1200" dirty="0"/>
          </a:p>
        </p:txBody>
      </p:sp>
      <p:sp>
        <p:nvSpPr>
          <p:cNvPr id="5" name="docker compose output frame"/>
          <p:cNvSpPr/>
          <p:nvPr/>
        </p:nvSpPr>
        <p:spPr>
          <a:xfrm>
            <a:off x="411480" y="1611153"/>
            <a:ext cx="5394960" cy="2401254"/>
          </a:xfrm>
          <a:prstGeom prst="roundRect">
            <a:avLst>
              <a:gd name="adj" fmla="val 2285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ocker compose output" descr="docker compose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666017"/>
            <a:ext cx="5285232" cy="2291526"/>
          </a:xfrm>
          <a:prstGeom prst="rect">
            <a:avLst/>
          </a:prstGeom>
        </p:spPr>
      </p:pic>
      <p:sp>
        <p:nvSpPr>
          <p:cNvPr id="7" name="bullets"/>
          <p:cNvSpPr txBox="1"/>
          <p:nvPr/>
        </p:nvSpPr>
        <p:spPr>
          <a:xfrm>
            <a:off x="6126480" y="1143000"/>
            <a:ext cx="2606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Backend: 2-stage build; pip removed from the runtime image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Frontend: Node builds React, Nginx serves it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Non-root: backend uid 10001, frontend uid 101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command starts frontend, backend and Postgres with health checks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CI/CD with GitHub Actions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M5</a:t>
            </a:r>
            <a:endParaRPr lang="en-US" sz="1200" dirty="0"/>
          </a:p>
        </p:txBody>
      </p:sp>
      <p:sp>
        <p:nvSpPr>
          <p:cNvPr id="5" name="Green pipeline run frame"/>
          <p:cNvSpPr/>
          <p:nvPr/>
        </p:nvSpPr>
        <p:spPr>
          <a:xfrm>
            <a:off x="692998" y="960120"/>
            <a:ext cx="7758003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Green pipeline run" descr="Green pipeline r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862" y="1014984"/>
            <a:ext cx="7648275" cy="2496312"/>
          </a:xfrm>
          <a:prstGeom prst="rect">
            <a:avLst/>
          </a:prstGeom>
        </p:spPr>
      </p:pic>
      <p:sp>
        <p:nvSpPr>
          <p:cNvPr id="7" name="job 1 box"/>
          <p:cNvSpPr/>
          <p:nvPr/>
        </p:nvSpPr>
        <p:spPr>
          <a:xfrm>
            <a:off x="457200" y="376732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EF4F3"/>
          </a:solidFill>
          <a:ln/>
        </p:spPr>
      </p:sp>
      <p:sp>
        <p:nvSpPr>
          <p:cNvPr id="8" name="job 1 label"/>
          <p:cNvSpPr txBox="1"/>
          <p:nvPr/>
        </p:nvSpPr>
        <p:spPr>
          <a:xfrm>
            <a:off x="457200" y="3767328"/>
            <a:ext cx="2606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B3A"/>
                </a:solidFill>
              </a:rPr>
              <a:t>1 · Test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3A"/>
                </a:solidFill>
              </a:rPr>
              <a:t>ruff · pytest · npm build · helm lint</a:t>
            </a:r>
            <a:endParaRPr lang="en-US" sz="1200" dirty="0"/>
          </a:p>
        </p:txBody>
      </p:sp>
      <p:sp>
        <p:nvSpPr>
          <p:cNvPr id="9" name="arrow job 1"/>
          <p:cNvSpPr/>
          <p:nvPr/>
        </p:nvSpPr>
        <p:spPr>
          <a:xfrm>
            <a:off x="3063240" y="4155948"/>
            <a:ext cx="182880" cy="91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10" name="job 2 box"/>
          <p:cNvSpPr/>
          <p:nvPr/>
        </p:nvSpPr>
        <p:spPr>
          <a:xfrm>
            <a:off x="3246120" y="376732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EF4F3"/>
          </a:solidFill>
          <a:ln/>
        </p:spPr>
      </p:sp>
      <p:sp>
        <p:nvSpPr>
          <p:cNvPr id="11" name="job 2 label"/>
          <p:cNvSpPr txBox="1"/>
          <p:nvPr/>
        </p:nvSpPr>
        <p:spPr>
          <a:xfrm>
            <a:off x="3246120" y="3767328"/>
            <a:ext cx="2606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B3A"/>
                </a:solidFill>
              </a:rPr>
              <a:t>2 · Build, scan, push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3A"/>
                </a:solidFill>
              </a:rPr>
              <a:t>Docker → Trivy → GHCR :sha</a:t>
            </a:r>
            <a:endParaRPr lang="en-US" sz="1200" dirty="0"/>
          </a:p>
        </p:txBody>
      </p:sp>
      <p:sp>
        <p:nvSpPr>
          <p:cNvPr id="12" name="arrow job 2"/>
          <p:cNvSpPr/>
          <p:nvPr/>
        </p:nvSpPr>
        <p:spPr>
          <a:xfrm>
            <a:off x="5852160" y="4155948"/>
            <a:ext cx="182880" cy="91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13" name="job 3 box"/>
          <p:cNvSpPr/>
          <p:nvPr/>
        </p:nvSpPr>
        <p:spPr>
          <a:xfrm>
            <a:off x="6035040" y="376732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0F3B3A"/>
          </a:solidFill>
          <a:ln/>
        </p:spPr>
      </p:sp>
      <p:sp>
        <p:nvSpPr>
          <p:cNvPr id="14" name="job 3 label"/>
          <p:cNvSpPr txBox="1"/>
          <p:nvPr/>
        </p:nvSpPr>
        <p:spPr>
          <a:xfrm>
            <a:off x="6035040" y="3767328"/>
            <a:ext cx="2606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· Deploy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OIDC to AWS → helm upgrade on EKS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Security scan and registry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M6</a:t>
            </a:r>
            <a:endParaRPr lang="en-US" sz="1200" dirty="0"/>
          </a:p>
        </p:txBody>
      </p:sp>
      <p:sp>
        <p:nvSpPr>
          <p:cNvPr id="5" name="Trivy report frame"/>
          <p:cNvSpPr/>
          <p:nvPr/>
        </p:nvSpPr>
        <p:spPr>
          <a:xfrm>
            <a:off x="411480" y="1272317"/>
            <a:ext cx="5029200" cy="1295846"/>
          </a:xfrm>
          <a:prstGeom prst="roundRect">
            <a:avLst>
              <a:gd name="adj" fmla="val 4234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Trivy report" descr="Trivy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327181"/>
            <a:ext cx="4919472" cy="1186118"/>
          </a:xfrm>
          <a:prstGeom prst="rect">
            <a:avLst/>
          </a:prstGeom>
        </p:spPr>
      </p:pic>
      <p:sp>
        <p:nvSpPr>
          <p:cNvPr id="7" name="GHCR package with SHA tags frame"/>
          <p:cNvSpPr/>
          <p:nvPr/>
        </p:nvSpPr>
        <p:spPr>
          <a:xfrm>
            <a:off x="1491867" y="2926080"/>
            <a:ext cx="2868426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GHCR package with SHA tags" descr="GHCR package with SHA ta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731" y="2980944"/>
            <a:ext cx="2758698" cy="1627632"/>
          </a:xfrm>
          <a:prstGeom prst="rect">
            <a:avLst/>
          </a:prstGeom>
        </p:spPr>
      </p:pic>
      <p:sp>
        <p:nvSpPr>
          <p:cNvPr id="9" name="stat fixable HIGH / CRITICAL CVEs in either image"/>
          <p:cNvSpPr txBox="1"/>
          <p:nvPr/>
        </p:nvSpPr>
        <p:spPr>
          <a:xfrm>
            <a:off x="5806440" y="11430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0" name="stat label fixable HIGH / CRITICAL CVEs in either image"/>
          <p:cNvSpPr txBox="1"/>
          <p:nvPr/>
        </p:nvSpPr>
        <p:spPr>
          <a:xfrm>
            <a:off x="5806440" y="1709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fixable HIGH / CRITICAL CVEs in either image</a:t>
            </a:r>
            <a:endParaRPr lang="en-US" sz="1300" dirty="0"/>
          </a:p>
        </p:txBody>
      </p:sp>
      <p:sp>
        <p:nvSpPr>
          <p:cNvPr id="11" name="stat pipeline fails if Trivy finds any"/>
          <p:cNvSpPr txBox="1"/>
          <p:nvPr/>
        </p:nvSpPr>
        <p:spPr>
          <a:xfrm>
            <a:off x="5806440" y="22860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1</a:t>
            </a:r>
            <a:endParaRPr lang="en-US" sz="3200" dirty="0"/>
          </a:p>
        </p:txBody>
      </p:sp>
      <p:sp>
        <p:nvSpPr>
          <p:cNvPr id="12" name="stat label pipeline fails if Trivy finds any"/>
          <p:cNvSpPr txBox="1"/>
          <p:nvPr/>
        </p:nvSpPr>
        <p:spPr>
          <a:xfrm>
            <a:off x="5806440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pipeline fails if Trivy finds any</a:t>
            </a:r>
            <a:endParaRPr lang="en-US" sz="1300" dirty="0"/>
          </a:p>
        </p:txBody>
      </p:sp>
      <p:sp>
        <p:nvSpPr>
          <p:cNvPr id="13" name="stat every image tagged with its Git commit, never latest"/>
          <p:cNvSpPr txBox="1"/>
          <p:nvPr/>
        </p:nvSpPr>
        <p:spPr>
          <a:xfrm>
            <a:off x="5806440" y="34290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:sha</a:t>
            </a:r>
            <a:endParaRPr lang="en-US" sz="3200" dirty="0"/>
          </a:p>
        </p:txBody>
      </p:sp>
      <p:sp>
        <p:nvSpPr>
          <p:cNvPr id="14" name="stat label every image tagged with its Git commit, never latest"/>
          <p:cNvSpPr txBox="1"/>
          <p:nvPr/>
        </p:nvSpPr>
        <p:spPr>
          <a:xfrm>
            <a:off x="5806440" y="3995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image tagged with its Git commit, never latest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Terraform: VPC and EKS on AWS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M7</a:t>
            </a:r>
            <a:endParaRPr lang="en-US" sz="1200" dirty="0"/>
          </a:p>
        </p:txBody>
      </p:sp>
      <p:sp>
        <p:nvSpPr>
          <p:cNvPr id="5" name="AWS console VPC resource map frame"/>
          <p:cNvSpPr/>
          <p:nvPr/>
        </p:nvSpPr>
        <p:spPr>
          <a:xfrm>
            <a:off x="411480" y="1019556"/>
            <a:ext cx="4206240" cy="2670048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AWS console VPC resource map" descr="AWS console VPC resource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074420"/>
            <a:ext cx="4096512" cy="2560320"/>
          </a:xfrm>
          <a:prstGeom prst="rect">
            <a:avLst/>
          </a:prstGeom>
        </p:spPr>
      </p:pic>
      <p:sp>
        <p:nvSpPr>
          <p:cNvPr id="7" name="AWS console EKS node group frame"/>
          <p:cNvSpPr/>
          <p:nvPr/>
        </p:nvSpPr>
        <p:spPr>
          <a:xfrm>
            <a:off x="4617720" y="1048131"/>
            <a:ext cx="4114800" cy="2612898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AWS console EKS node group" descr="AWS console EKS node 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102995"/>
            <a:ext cx="4005072" cy="2503170"/>
          </a:xfrm>
          <a:prstGeom prst="rect">
            <a:avLst/>
          </a:prstGeom>
        </p:spPr>
      </p:pic>
      <p:sp>
        <p:nvSpPr>
          <p:cNvPr id="9" name="stat resources in one plan"/>
          <p:cNvSpPr txBox="1"/>
          <p:nvPr/>
        </p:nvSpPr>
        <p:spPr>
          <a:xfrm>
            <a:off x="457200" y="37673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3200" dirty="0"/>
          </a:p>
        </p:txBody>
      </p:sp>
      <p:sp>
        <p:nvSpPr>
          <p:cNvPr id="10" name="stat label resources in one plan"/>
          <p:cNvSpPr txBox="1"/>
          <p:nvPr/>
        </p:nvSpPr>
        <p:spPr>
          <a:xfrm>
            <a:off x="457200" y="4334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resources in one plan</a:t>
            </a:r>
            <a:endParaRPr lang="en-US" sz="1300" dirty="0"/>
          </a:p>
        </p:txBody>
      </p:sp>
      <p:sp>
        <p:nvSpPr>
          <p:cNvPr id="11" name="stat public + private subnets, 2 AZs"/>
          <p:cNvSpPr txBox="1"/>
          <p:nvPr/>
        </p:nvSpPr>
        <p:spPr>
          <a:xfrm>
            <a:off x="2514600" y="37673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+ 2</a:t>
            </a:r>
            <a:endParaRPr lang="en-US" sz="3200" dirty="0"/>
          </a:p>
        </p:txBody>
      </p:sp>
      <p:sp>
        <p:nvSpPr>
          <p:cNvPr id="12" name="stat label public + private subnets, 2 AZs"/>
          <p:cNvSpPr txBox="1"/>
          <p:nvPr/>
        </p:nvSpPr>
        <p:spPr>
          <a:xfrm>
            <a:off x="2514600" y="43342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public + private subnets, 2 AZs</a:t>
            </a:r>
            <a:endParaRPr lang="en-US" sz="1300" dirty="0"/>
          </a:p>
        </p:txBody>
      </p:sp>
      <p:sp>
        <p:nvSpPr>
          <p:cNvPr id="13" name="stat EKS, Active"/>
          <p:cNvSpPr txBox="1"/>
          <p:nvPr/>
        </p:nvSpPr>
        <p:spPr>
          <a:xfrm>
            <a:off x="4846320" y="37673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1.34</a:t>
            </a:r>
            <a:endParaRPr lang="en-US" sz="3200" dirty="0"/>
          </a:p>
        </p:txBody>
      </p:sp>
      <p:sp>
        <p:nvSpPr>
          <p:cNvPr id="14" name="stat label EKS, Active"/>
          <p:cNvSpPr txBox="1"/>
          <p:nvPr/>
        </p:nvSpPr>
        <p:spPr>
          <a:xfrm>
            <a:off x="4846320" y="4334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EKS, Active</a:t>
            </a:r>
            <a:endParaRPr lang="en-US" sz="1300" dirty="0"/>
          </a:p>
        </p:txBody>
      </p:sp>
      <p:sp>
        <p:nvSpPr>
          <p:cNvPr id="15" name="stat m7i-flex.large (free tier)"/>
          <p:cNvSpPr txBox="1"/>
          <p:nvPr/>
        </p:nvSpPr>
        <p:spPr>
          <a:xfrm>
            <a:off x="6766560" y="37673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nodes</a:t>
            </a:r>
            <a:endParaRPr lang="en-US" sz="3200" dirty="0"/>
          </a:p>
        </p:txBody>
      </p:sp>
      <p:sp>
        <p:nvSpPr>
          <p:cNvPr id="16" name="stat label m7i-flex.large (free tier)"/>
          <p:cNvSpPr txBox="1"/>
          <p:nvPr/>
        </p:nvSpPr>
        <p:spPr>
          <a:xfrm>
            <a:off x="6766560" y="43342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m7i-flex.large (free tier)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Kubernetes and Helm on EKS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M8</a:t>
            </a:r>
            <a:endParaRPr lang="en-US" sz="1200" dirty="0"/>
          </a:p>
        </p:txBody>
      </p:sp>
      <p:sp>
        <p:nvSpPr>
          <p:cNvPr id="5" name="kubectl get on EKS frame"/>
          <p:cNvSpPr/>
          <p:nvPr/>
        </p:nvSpPr>
        <p:spPr>
          <a:xfrm>
            <a:off x="411480" y="995881"/>
            <a:ext cx="8321040" cy="2589382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kubectl get on EKS" descr="kubectl get on E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050745"/>
            <a:ext cx="8211312" cy="2479654"/>
          </a:xfrm>
          <a:prstGeom prst="rect">
            <a:avLst/>
          </a:prstGeom>
        </p:spPr>
      </p:pic>
      <p:sp>
        <p:nvSpPr>
          <p:cNvPr id="7" name="bullets"/>
          <p:cNvSpPr txBox="1"/>
          <p:nvPr/>
        </p:nvSpPr>
        <p:spPr>
          <a:xfrm>
            <a:off x="457200" y="3749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 backend + 2 frontend pods, all Running; ClusterIP Services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Ingress: / → frontend, /api → backend, behind an AWS NLB</a:t>
            </a:r>
            <a:endParaRPr lang="en-US" sz="1400" dirty="0"/>
          </a:p>
        </p:txBody>
      </p:sp>
      <p:sp>
        <p:nvSpPr>
          <p:cNvPr id="8" name="bullets"/>
          <p:cNvSpPr txBox="1"/>
          <p:nvPr/>
        </p:nvSpPr>
        <p:spPr>
          <a:xfrm>
            <a:off x="4754880" y="37490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Postgres StatefulSet on a 5 Gi EBS volume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helm history: every release, one-command rollback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Autoscaling and monitoring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M9</a:t>
            </a:r>
            <a:endParaRPr lang="en-US" sz="1200" dirty="0"/>
          </a:p>
        </p:txBody>
      </p:sp>
      <p:sp>
        <p:nvSpPr>
          <p:cNvPr id="5" name="Grafana HelpDesk dashboard frame"/>
          <p:cNvSpPr/>
          <p:nvPr/>
        </p:nvSpPr>
        <p:spPr>
          <a:xfrm>
            <a:off x="535838" y="960120"/>
            <a:ext cx="4323283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Grafana HelpDesk dashboard" descr="Grafana HelpDesk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702" y="1014984"/>
            <a:ext cx="4213555" cy="2633472"/>
          </a:xfrm>
          <a:prstGeom prst="rect">
            <a:avLst/>
          </a:prstGeom>
        </p:spPr>
      </p:pic>
      <p:sp>
        <p:nvSpPr>
          <p:cNvPr id="7" name="stat Prometheus targets UP"/>
          <p:cNvSpPr txBox="1"/>
          <p:nvPr/>
        </p:nvSpPr>
        <p:spPr>
          <a:xfrm>
            <a:off x="5257800" y="10515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</a:t>
            </a:r>
            <a:endParaRPr lang="en-US" sz="3200" dirty="0"/>
          </a:p>
        </p:txBody>
      </p:sp>
      <p:sp>
        <p:nvSpPr>
          <p:cNvPr id="8" name="stat label Prometheus targets UP"/>
          <p:cNvSpPr txBox="1"/>
          <p:nvPr/>
        </p:nvSpPr>
        <p:spPr>
          <a:xfrm>
            <a:off x="5257800" y="16184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Prometheus targets UP</a:t>
            </a:r>
            <a:endParaRPr lang="en-US" sz="1300" dirty="0"/>
          </a:p>
        </p:txBody>
      </p:sp>
      <p:sp>
        <p:nvSpPr>
          <p:cNvPr id="9" name="stat backend pods via HPA at 60% CPU"/>
          <p:cNvSpPr txBox="1"/>
          <p:nvPr/>
        </p:nvSpPr>
        <p:spPr>
          <a:xfrm>
            <a:off x="7086600" y="10515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→ 6</a:t>
            </a:r>
            <a:endParaRPr lang="en-US" sz="3200" dirty="0"/>
          </a:p>
        </p:txBody>
      </p:sp>
      <p:sp>
        <p:nvSpPr>
          <p:cNvPr id="10" name="stat label backend pods via HPA at 60% CPU"/>
          <p:cNvSpPr txBox="1"/>
          <p:nvPr/>
        </p:nvSpPr>
        <p:spPr>
          <a:xfrm>
            <a:off x="7086600" y="16184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backend pods via HPA at 60% CPU</a:t>
            </a:r>
            <a:endParaRPr lang="en-US" sz="1300" dirty="0"/>
          </a:p>
        </p:txBody>
      </p:sp>
      <p:sp>
        <p:nvSpPr>
          <p:cNvPr id="11" name="stat 5xx error ratio"/>
          <p:cNvSpPr txBox="1"/>
          <p:nvPr/>
        </p:nvSpPr>
        <p:spPr>
          <a:xfrm>
            <a:off x="5257800" y="23317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0 %</a:t>
            </a:r>
            <a:endParaRPr lang="en-US" sz="3200" dirty="0"/>
          </a:p>
        </p:txBody>
      </p:sp>
      <p:sp>
        <p:nvSpPr>
          <p:cNvPr id="12" name="stat label 5xx error ratio"/>
          <p:cNvSpPr txBox="1"/>
          <p:nvPr/>
        </p:nvSpPr>
        <p:spPr>
          <a:xfrm>
            <a:off x="5257800" y="28986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5xx error ratio</a:t>
            </a:r>
            <a:endParaRPr lang="en-US" sz="1300" dirty="0"/>
          </a:p>
        </p:txBody>
      </p:sp>
      <p:sp>
        <p:nvSpPr>
          <p:cNvPr id="13" name="stat p95 latency under load"/>
          <p:cNvSpPr txBox="1"/>
          <p:nvPr/>
        </p:nvSpPr>
        <p:spPr>
          <a:xfrm>
            <a:off x="7086600" y="23317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ms</a:t>
            </a:r>
            <a:endParaRPr lang="en-US" sz="3200" dirty="0"/>
          </a:p>
        </p:txBody>
      </p:sp>
      <p:sp>
        <p:nvSpPr>
          <p:cNvPr id="14" name="stat label p95 latency under load"/>
          <p:cNvSpPr txBox="1"/>
          <p:nvPr/>
        </p:nvSpPr>
        <p:spPr>
          <a:xfrm>
            <a:off x="7086600" y="28986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p95 latency under load</a:t>
            </a:r>
            <a:endParaRPr lang="en-US" sz="1300" dirty="0"/>
          </a:p>
        </p:txBody>
      </p:sp>
      <p:sp>
        <p:nvSpPr>
          <p:cNvPr id="15" name="Prometheus targets UP frame"/>
          <p:cNvSpPr/>
          <p:nvPr/>
        </p:nvSpPr>
        <p:spPr>
          <a:xfrm>
            <a:off x="2022653" y="3749040"/>
            <a:ext cx="509869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Prometheus targets UP" descr="Prometheus targets 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517" y="3803904"/>
            <a:ext cx="4988966" cy="8503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Real problems I solved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5" name="challenge 1 card"/>
          <p:cNvSpPr/>
          <p:nvPr/>
        </p:nvSpPr>
        <p:spPr>
          <a:xfrm>
            <a:off x="45720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6" name="challenge 1 chip"/>
          <p:cNvSpPr/>
          <p:nvPr/>
        </p:nvSpPr>
        <p:spPr>
          <a:xfrm>
            <a:off x="640080" y="12527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challenge 1 number"/>
          <p:cNvSpPr txBox="1"/>
          <p:nvPr/>
        </p:nvSpPr>
        <p:spPr>
          <a:xfrm>
            <a:off x="640080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challenge 1 title"/>
          <p:cNvSpPr txBox="1"/>
          <p:nvPr/>
        </p:nvSpPr>
        <p:spPr>
          <a:xfrm>
            <a:off x="1170432" y="1234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AWS account never activated</a:t>
            </a:r>
            <a:endParaRPr lang="en-US" sz="1500" dirty="0"/>
          </a:p>
        </p:txBody>
      </p:sp>
      <p:sp>
        <p:nvSpPr>
          <p:cNvPr id="9" name="challenge 1 text"/>
          <p:cNvSpPr txBox="1"/>
          <p:nvPr/>
        </p:nvSpPr>
        <p:spPr>
          <a:xfrm>
            <a:off x="640080" y="18013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Health showed "customer verification failed". Opened a new account and verified it properly.</a:t>
            </a:r>
            <a:endParaRPr lang="en-US" sz="1300" dirty="0"/>
          </a:p>
        </p:txBody>
      </p:sp>
      <p:sp>
        <p:nvSpPr>
          <p:cNvPr id="10" name="challenge 2 card"/>
          <p:cNvSpPr/>
          <p:nvPr/>
        </p:nvSpPr>
        <p:spPr>
          <a:xfrm>
            <a:off x="466344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1" name="challenge 2 chip"/>
          <p:cNvSpPr/>
          <p:nvPr/>
        </p:nvSpPr>
        <p:spPr>
          <a:xfrm>
            <a:off x="4846320" y="12527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challenge 2 number"/>
          <p:cNvSpPr txBox="1"/>
          <p:nvPr/>
        </p:nvSpPr>
        <p:spPr>
          <a:xfrm>
            <a:off x="4846320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challenge 2 title"/>
          <p:cNvSpPr txBox="1"/>
          <p:nvPr/>
        </p:nvSpPr>
        <p:spPr>
          <a:xfrm>
            <a:off x="5376672" y="1234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Free plan blocked t3.medium</a:t>
            </a:r>
            <a:endParaRPr lang="en-US" sz="1500" dirty="0"/>
          </a:p>
        </p:txBody>
      </p:sp>
      <p:sp>
        <p:nvSpPr>
          <p:cNvPr id="14" name="challenge 2 text"/>
          <p:cNvSpPr txBox="1"/>
          <p:nvPr/>
        </p:nvSpPr>
        <p:spPr>
          <a:xfrm>
            <a:off x="4846320" y="18013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EC2 only allows free-tier types → nodes moved to m7i-flex.large (8 GiB).</a:t>
            </a:r>
            <a:endParaRPr lang="en-US" sz="1300" dirty="0"/>
          </a:p>
        </p:txBody>
      </p:sp>
      <p:sp>
        <p:nvSpPr>
          <p:cNvPr id="15" name="challenge 3 card"/>
          <p:cNvSpPr/>
          <p:nvPr/>
        </p:nvSpPr>
        <p:spPr>
          <a:xfrm>
            <a:off x="457200" y="2862072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6" name="challenge 3 chip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challenge 3 number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challenge 3 title"/>
          <p:cNvSpPr txBox="1"/>
          <p:nvPr/>
        </p:nvSpPr>
        <p:spPr>
          <a:xfrm>
            <a:off x="1170432" y="30449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CI could not assume AWS role</a:t>
            </a:r>
            <a:endParaRPr lang="en-US" sz="1500" dirty="0"/>
          </a:p>
        </p:txBody>
      </p:sp>
      <p:sp>
        <p:nvSpPr>
          <p:cNvPr id="19" name="challenge 3 text"/>
          <p:cNvSpPr txBox="1"/>
          <p:nvPr/>
        </p:nvSpPr>
        <p:spPr>
          <a:xfrm>
            <a:off x="64008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GitHub sends an immutable OIDC subject → trust policy accepts it, set in Terraform.</a:t>
            </a:r>
            <a:endParaRPr lang="en-US" sz="1300" dirty="0"/>
          </a:p>
        </p:txBody>
      </p:sp>
      <p:sp>
        <p:nvSpPr>
          <p:cNvPr id="20" name="challenge 4 card"/>
          <p:cNvSpPr/>
          <p:nvPr/>
        </p:nvSpPr>
        <p:spPr>
          <a:xfrm>
            <a:off x="4663440" y="2862072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1" name="challenge 4 chip"/>
          <p:cNvSpPr/>
          <p:nvPr/>
        </p:nvSpPr>
        <p:spPr>
          <a:xfrm>
            <a:off x="4846320" y="30632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challenge 4 number"/>
          <p:cNvSpPr txBox="1"/>
          <p:nvPr/>
        </p:nvSpPr>
        <p:spPr>
          <a:xfrm>
            <a:off x="48463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challenge 4 title"/>
          <p:cNvSpPr txBox="1"/>
          <p:nvPr/>
        </p:nvSpPr>
        <p:spPr>
          <a:xfrm>
            <a:off x="5376672" y="30449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Helm denied the ServiceMonitor</a:t>
            </a:r>
            <a:endParaRPr lang="en-US" sz="1500" dirty="0"/>
          </a:p>
        </p:txBody>
      </p:sp>
      <p:sp>
        <p:nvSpPr>
          <p:cNvPr id="24" name="challenge 4 text"/>
          <p:cNvSpPr txBox="1"/>
          <p:nvPr/>
        </p:nvSpPr>
        <p:spPr>
          <a:xfrm>
            <a:off x="484632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EKS namespace-admin skips CRDs → small RBAC Role, still least privilege.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7E3"/>
                </a:solidFill>
              </a:rPr>
              <a:t>Commit → test → scan → registry → EKS, fully automated and reproducible from code</a:t>
            </a:r>
            <a:endParaRPr lang="en-US" sz="1700" dirty="0"/>
          </a:p>
        </p:txBody>
      </p:sp>
      <p:sp>
        <p:nvSpPr>
          <p:cNvPr id="4" name="close Code &amp;amp; docs"/>
          <p:cNvSpPr txBox="1"/>
          <p:nvPr/>
        </p:nvSpPr>
        <p:spPr>
          <a:xfrm>
            <a:off x="54864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</a:rPr>
              <a:t>Code &amp; docs</a:t>
            </a:r>
            <a:endParaRPr lang="en-US" sz="1400" dirty="0"/>
          </a:p>
        </p:txBody>
      </p:sp>
      <p:sp>
        <p:nvSpPr>
          <p:cNvPr id="5" name="close Code &amp;amp; docs text"/>
          <p:cNvSpPr txBox="1"/>
          <p:nvPr/>
        </p:nvSpPr>
        <p:spPr>
          <a:xfrm>
            <a:off x="224028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github.com/princekumar0509/devops-heros → session21-python</a:t>
            </a:r>
            <a:endParaRPr lang="en-US" sz="1400" dirty="0"/>
          </a:p>
        </p:txBody>
      </p:sp>
      <p:sp>
        <p:nvSpPr>
          <p:cNvPr id="6" name="close Evidence"/>
          <p:cNvSpPr txBox="1"/>
          <p:nvPr/>
        </p:nvSpPr>
        <p:spPr>
          <a:xfrm>
            <a:off x="54864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</a:rPr>
              <a:t>Evidence</a:t>
            </a:r>
            <a:endParaRPr lang="en-US" sz="1400" dirty="0"/>
          </a:p>
        </p:txBody>
      </p:sp>
      <p:sp>
        <p:nvSpPr>
          <p:cNvPr id="7" name="close Evidence text"/>
          <p:cNvSpPr txBox="1"/>
          <p:nvPr/>
        </p:nvSpPr>
        <p:spPr>
          <a:xfrm>
            <a:off x="224028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session21-python/evidence: screenshots for every module</a:t>
            </a:r>
            <a:endParaRPr lang="en-US" sz="1400" dirty="0"/>
          </a:p>
        </p:txBody>
      </p:sp>
      <p:sp>
        <p:nvSpPr>
          <p:cNvPr id="8" name="close After grading"/>
          <p:cNvSpPr txBox="1"/>
          <p:nvPr/>
        </p:nvSpPr>
        <p:spPr>
          <a:xfrm>
            <a:off x="54864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</a:rPr>
              <a:t>After grading</a:t>
            </a:r>
            <a:endParaRPr lang="en-US" sz="1400" dirty="0"/>
          </a:p>
        </p:txBody>
      </p:sp>
      <p:sp>
        <p:nvSpPr>
          <p:cNvPr id="9" name="close After grading text"/>
          <p:cNvSpPr txBox="1"/>
          <p:nvPr/>
        </p:nvSpPr>
        <p:spPr>
          <a:xfrm>
            <a:off x="224028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helm uninstall + terraform destroy, so no AWS cost is left running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pDesk Teal">
  <a:themeElements>
    <a:clrScheme name="HelpDesk Teal">
      <a:dk1>
        <a:srgbClr val="14242A"/>
      </a:dk1>
      <a:lt1>
        <a:srgbClr val="FFFFFF"/>
      </a:lt1>
      <a:dk2>
        <a:srgbClr val="0F3B3A"/>
      </a:dk2>
      <a:lt2>
        <a:srgbClr val="EEF4F3"/>
      </a:lt2>
      <a:accent1>
        <a:srgbClr val="0E8C7F"/>
      </a:accent1>
      <a:accent2>
        <a:srgbClr val="F2A93B"/>
      </a:accent2>
      <a:accent3>
        <a:srgbClr val="3B7CC4"/>
      </a:accent3>
      <a:accent4>
        <a:srgbClr val="D9484D"/>
      </a:accent4>
      <a:accent5>
        <a:srgbClr val="6C5CC4"/>
      </a:accent5>
      <a:accent6>
        <a:srgbClr val="5E6B6E"/>
      </a:accent6>
      <a:hlink>
        <a:srgbClr val="0E8C7F"/>
      </a:hlink>
      <a:folHlink>
        <a:srgbClr val="6C5CC4"/>
      </a:folHlink>
    </a:clrScheme>
    <a:fontScheme name="HelpDesk Te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HelpDesk: DevOps capstone</dc:title>
  <dc:subject>PptxGenJS Presentation</dc:subject>
  <dc:creator>Prince Kumar</dc:creator>
  <cp:lastModifiedBy>Prince Kumar</cp:lastModifiedBy>
  <cp:revision>1</cp:revision>
  <dcterms:created xsi:type="dcterms:W3CDTF">2026-10-16T16:39:07Z</dcterms:created>
  <dcterms:modified xsi:type="dcterms:W3CDTF">2026-10-16T16:39:07Z</dcterms:modified>
</cp:coreProperties>
</file>